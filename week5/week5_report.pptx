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C7293">
              <a:lumMod val="80000"/>
              <a:lumOff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Python数据分析课程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阶段性学习汇报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ADCFC"/>
                </a:solidFill>
                <a:latin typeface="Microsoft YaHei"/>
              </a:defRPr>
            </a:pPr>
            <a:r>
              <a:t>第 1-5 周学习成果 · 实践总结 · 未来计划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汇报人：汪超    日期：2026年8月23日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95C"/>
                </a:solidFill>
                <a:latin typeface="Microsoft YaHei"/>
              </a:defRPr>
            </a:pPr>
            <a:r>
              <a:t>汇报目录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978408" y="2011680"/>
            <a:ext cx="27432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前四周学习回顾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74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Python基础 → 数据分析 → 医学影像+医保 → 深度学习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6888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42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8408" y="3017520"/>
            <a:ext cx="27432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第五周整理提升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80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代码归档 · 思维导图 · 短板补强 · PPT初稿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478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8408" y="4023360"/>
            <a:ext cx="27432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474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核心收获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86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知识框架 · 工程能力 · 问题解决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48056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537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" y="5029200"/>
            <a:ext cx="27432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4480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问题与改进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892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短板诊断 · 优化方向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548640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5595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486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下一步计划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897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迁移学习 · 医学影像AI · 项目实战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1371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五周学习主线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0" y="2103120"/>
            <a:ext cx="2011680" cy="6858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22128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第1周</a:t>
            </a:r>
            <a:br/>
            <a:r>
              <a:t>Python基础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0" y="2971800"/>
            <a:ext cx="2011680" cy="6858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308152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第2周</a:t>
            </a:r>
            <a:br/>
            <a:r>
              <a:t>数据分析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0" y="3840479"/>
            <a:ext cx="2011680" cy="6858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3950207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第3周</a:t>
            </a:r>
            <a:br/>
            <a:r>
              <a:t>医学影像+医保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0" y="4709159"/>
            <a:ext cx="2011680" cy="6858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0" y="4818887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第4周</a:t>
            </a:r>
            <a:br/>
            <a:r>
              <a:t>深度学习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0" y="5577840"/>
            <a:ext cx="2011680" cy="6858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0" y="568756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第5周</a:t>
            </a:r>
            <a:br/>
            <a:r>
              <a:t>整理复盘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95C"/>
                </a:solidFill>
                <a:latin typeface="Microsoft YaHei"/>
              </a:defRPr>
            </a:pPr>
            <a:r>
              <a:t>第1周：Python 编程基础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E74C3C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F8C8D"/>
                </a:solidFill>
                <a:latin typeface="Microsoft YaHei"/>
              </a:defRPr>
            </a:pPr>
            <a:r>
              <a:t>7道算法题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463040"/>
            <a:ext cx="36576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基础语法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2860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F8C8D"/>
                </a:solidFill>
                <a:latin typeface="Microsoft YaHei"/>
              </a:defRPr>
            </a:pPr>
            <a:r>
              <a:t>数据类型、列表、字典、元组、字符串操作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463040"/>
            <a:ext cx="36576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控制结构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2860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F8C8D"/>
                </a:solidFill>
                <a:latin typeface="Microsoft YaHei"/>
              </a:defRPr>
            </a:pPr>
            <a:r>
              <a:t>if-elif-else、for / while 循环、嵌套逻辑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3749039"/>
            <a:ext cx="36576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39776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函数与类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457199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F8C8D"/>
                </a:solidFill>
                <a:latin typeface="Microsoft YaHei"/>
              </a:defRPr>
            </a:pPr>
            <a:r>
              <a:t>函数定义、参数传递、class 与 __init__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3749039"/>
            <a:ext cx="36576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39776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文件与异常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57199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F8C8D"/>
                </a:solidFill>
                <a:latin typeface="Microsoft YaHei"/>
              </a:defRPr>
            </a:pPr>
            <a:r>
              <a:t>with open、try-except、UTF-8 编码处理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95C"/>
                </a:solidFill>
                <a:latin typeface="Microsoft YaHei"/>
              </a:defRPr>
            </a:pPr>
            <a:r>
              <a:t>第2周：数据分析三件套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256032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NumPy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数组计算、向量化运算、广播机制、矩阵操作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463040"/>
            <a:ext cx="3474720" cy="256032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7373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Pandas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59" y="25603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DataFrame、数据清洗、分组聚合、缺失值处理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63040"/>
            <a:ext cx="3474720" cy="256032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373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Matplotlib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5603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折线图、柱状图、饼图、散点图、多子图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10698480" cy="164592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实践应用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  <a:latin typeface="Microsoft YaHei"/>
              </a:defRPr>
            </a:pPr>
            <a:r>
              <a:t>完成了学生成绩统计、CSV 数据清洗与转换、多图表可视化等练习，建立了 "读取 → 清洗 → 分析 → 可视化" 的完整数据分析流程。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95C"/>
                </a:solidFill>
                <a:latin typeface="Microsoft YaHei"/>
              </a:defRPr>
            </a:pPr>
            <a:r>
              <a:t>第3周：医学影像预处理 + 医保大数据清洗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医学影像预处理（SimpleITK）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• 合成 3D 高斯球体测试影像</a:t>
            </a:r>
            <a:br/>
            <a:r>
              <a:t>• 影像参数提取：尺寸、间距、方向矩阵</a:t>
            </a:r>
            <a:br/>
            <a:r>
              <a:t>• 强度统计：均值、标准差、最值</a:t>
            </a:r>
            <a:br/>
            <a:r>
              <a:t>• Min-Max / Z-Score / Rescale 归一化</a:t>
            </a:r>
            <a:br/>
            <a:r>
              <a:t>• 三方位可视化 + 强度直方图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916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医保大数据清洗（Pandas）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• 自动构造 500 条医保模拟数据</a:t>
            </a:r>
            <a:br/>
            <a:r>
              <a:t>• 制造缺失值、异常值、异常年龄</a:t>
            </a:r>
            <a:br/>
            <a:r>
              <a:t>• IQR 异常检测 + 分组中位数填充</a:t>
            </a:r>
            <a:br/>
            <a:r>
              <a:t>• 多维度分组统计（就诊类型/医保类型/科室）</a:t>
            </a:r>
            <a:br/>
            <a:r>
              <a:t>• 6合1 可视化报告 + 月度趋势分析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95C"/>
                </a:solidFill>
                <a:latin typeface="Microsoft YaHei"/>
              </a:defRPr>
            </a:pPr>
            <a:r>
              <a:t>第4周：基于 PyTorch 的 CNN 图像分类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CNN 模型结构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377440"/>
            <a:ext cx="3200400" cy="45720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3230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432304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32×32×3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944368"/>
            <a:ext cx="3200400" cy="45720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9992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Conv1 + BN + ReLU + Pool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99923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32→16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511296"/>
            <a:ext cx="3200400" cy="45720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Conv2 + BN + ReLU + Pool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5661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16→8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078224"/>
            <a:ext cx="3200400" cy="45720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330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Conv3 + BN + ReLU + Pool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13308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8→4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4645152"/>
            <a:ext cx="3200400" cy="45720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7000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Flatten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700016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4×4×128 = 2048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5212080"/>
            <a:ext cx="3200400" cy="45720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26694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FC1(2048→256) + Dropout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266944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256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5779008"/>
            <a:ext cx="3200400" cy="45720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8338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FC2(256→10)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83387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10 classes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1645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96167"/>
                </a:solidFill>
                <a:latin typeface="Microsoft YaHei"/>
              </a:defRPr>
            </a:pPr>
            <a:r>
              <a:t>77.98%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CIFAR-10 最佳测试准确率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6576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F8C8D"/>
                </a:solidFill>
                <a:latin typeface="Microsoft YaHei"/>
              </a:defRPr>
            </a:pPr>
            <a:r>
              <a:t>训练要点</a:t>
            </a:r>
            <a:br/>
            <a:r>
              <a:t>• 数据增强：随机裁剪、翻转、颜色抖动</a:t>
            </a:r>
            <a:br/>
            <a:r>
              <a:t>• 归一化：CIFAR-10 官方 mean/std</a:t>
            </a:r>
            <a:br/>
            <a:r>
              <a:t>• 优化器：Adam + StepLR 学习率衰减</a:t>
            </a:r>
            <a:br/>
            <a:r>
              <a:t>• BatchNorm 与 Dropout 提升泛化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95C"/>
                </a:solidFill>
                <a:latin typeface="Microsoft YaHei"/>
              </a:defRPr>
            </a:pPr>
            <a:r>
              <a:t>第5周：知识整理与能力提升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9728" cy="2103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Microsoft YaHei"/>
              </a:defRPr>
            </a:pPr>
            <a:r>
              <a:t>代码归档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按主题分类整理前4周代码</a:t>
            </a:r>
            <a:br/>
            <a:r>
              <a:t>01 Python基础 / 02 数据分析</a:t>
            </a:r>
            <a:br/>
            <a:r>
              <a:t>03 医学影像+医保 / 04 深度学习</a:t>
            </a:r>
            <a:br/>
            <a:r>
              <a:t>已 Git commit: 511d719a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3035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109728" cy="2103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45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  <a:latin typeface="Microsoft YaHei"/>
              </a:defRPr>
            </a:pPr>
            <a:r>
              <a:t>思维导图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402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生成 PNG 知识图谱</a:t>
            </a:r>
            <a:br/>
            <a:r>
              <a:t>梳理五周学习体系</a:t>
            </a:r>
            <a:br/>
            <a:r>
              <a:t>Mermaid markdown 版本同步存档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3035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9728" cy="2103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Microsoft YaHei"/>
              </a:defRPr>
            </a:pPr>
            <a:r>
              <a:t>短板补强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091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类型注解 / 编码处理</a:t>
            </a:r>
            <a:br/>
            <a:r>
              <a:t>Pandas 高级清洗 / 混淆矩阵</a:t>
            </a:r>
            <a:br/>
            <a:r>
              <a:t>自定义 PyTorch Dataset / Git 提交规范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931920"/>
            <a:ext cx="53035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931920"/>
            <a:ext cx="109728" cy="2103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114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980B9"/>
                </a:solidFill>
                <a:latin typeface="Microsoft YaHei"/>
              </a:defRPr>
            </a:pPr>
            <a:r>
              <a:t>PPT 初稿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7091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11 页阶段性汇报 PPT</a:t>
            </a:r>
            <a:br/>
            <a:r>
              <a:t>涵盖回顾、收获、问题与计划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95C"/>
                </a:solidFill>
                <a:latin typeface="Microsoft YaHei"/>
              </a:defRPr>
            </a:pPr>
            <a:r>
              <a:t>核心收获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完整流程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65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F8C8D"/>
                </a:solidFill>
                <a:latin typeface="Microsoft YaHei"/>
              </a:defRPr>
            </a:pPr>
            <a:r>
              <a:t>掌握 "数据 → 预处理 → 分析/建模 → 可视化 → 复盘" 的全链路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9748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97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工具栈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00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F8C8D"/>
                </a:solidFill>
                <a:latin typeface="Microsoft YaHei"/>
              </a:defRPr>
            </a:pPr>
            <a:r>
              <a:t>熟练使用 Python + NumPy/Pandas/Matplotlib + SimpleITK + PyTorch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3192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工程能力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434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F8C8D"/>
                </a:solidFill>
                <a:latin typeface="Microsoft YaHei"/>
              </a:defRPr>
            </a:pPr>
            <a:r>
              <a:t>虚拟环境、编码兼容、Git 版本管理、类型注解与代码规范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16636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2578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166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问题驱动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669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F8C8D"/>
                </a:solidFill>
                <a:latin typeface="Microsoft YaHei"/>
              </a:defRPr>
            </a:pPr>
            <a:r>
              <a:t>遇到报错不再慌张，能定位、分析、修复并记录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1371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学习进度可视化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Python基础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2148840"/>
            <a:ext cx="2286000" cy="201168"/>
          </a:xfrm>
          <a:prstGeom prst="rect">
            <a:avLst/>
          </a:prstGeom>
          <a:solidFill>
            <a:srgbClr val="E8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2148840"/>
            <a:ext cx="2171700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521440" y="2103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95%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880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数据分析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2926080"/>
            <a:ext cx="2286000" cy="201168"/>
          </a:xfrm>
          <a:prstGeom prst="rect">
            <a:avLst/>
          </a:prstGeom>
          <a:solidFill>
            <a:srgbClr val="E8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2926080"/>
            <a:ext cx="1943100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21440" y="2880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85%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医学影像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3703320"/>
            <a:ext cx="2286000" cy="201168"/>
          </a:xfrm>
          <a:prstGeom prst="rect">
            <a:avLst/>
          </a:prstGeom>
          <a:solidFill>
            <a:srgbClr val="E8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0" y="3703320"/>
            <a:ext cx="1714500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521440" y="3657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75%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深度学习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4480560"/>
            <a:ext cx="2286000" cy="201168"/>
          </a:xfrm>
          <a:prstGeom prst="rect">
            <a:avLst/>
          </a:prstGeom>
          <a:solidFill>
            <a:srgbClr val="E8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0" y="4480560"/>
            <a:ext cx="1600200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521440" y="4434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70%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52120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工程规范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5257799"/>
            <a:ext cx="2286000" cy="201168"/>
          </a:xfrm>
          <a:prstGeom prst="rect">
            <a:avLst/>
          </a:prstGeom>
          <a:solidFill>
            <a:srgbClr val="E8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4000" y="5257799"/>
            <a:ext cx="1828800" cy="2011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521440" y="521207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C3E50"/>
                </a:solidFill>
                <a:latin typeface="Microsoft YaHei"/>
              </a:defRPr>
            </a:pPr>
            <a:r>
              <a:t>80%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95C"/>
                </a:solidFill>
                <a:latin typeface="Microsoft YaHei"/>
              </a:defRPr>
            </a:pPr>
            <a:r>
              <a:t>问题诊断与改进方向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64008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现存问题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303520" cy="64008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改进措施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1. 类型检查器 pyright 大量误报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2402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7AE60"/>
                </a:solidFill>
                <a:latin typeface="Microsoft YaHei"/>
              </a:defRPr>
            </a:pPr>
            <a:r>
              <a:t>→ 安装类型存根或配置 pyrightconfig.json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5351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2. Windows GBK 编码偶发报错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95351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7AE60"/>
                </a:solidFill>
                <a:latin typeface="Microsoft YaHei"/>
              </a:defRPr>
            </a:pPr>
            <a:r>
              <a:t>→ 所有文件读写统一指定 encoding="utf-8"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66744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3. 数据清洗方法较单一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666744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7AE60"/>
                </a:solidFill>
                <a:latin typeface="Microsoft YaHei"/>
              </a:defRPr>
            </a:pPr>
            <a:r>
              <a:t>→ 学习插值、孤立森林、回归填充等进阶方法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79976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4. 模型评估仅看准确率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379976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7AE60"/>
                </a:solidFill>
                <a:latin typeface="Microsoft YaHei"/>
              </a:defRPr>
            </a:pPr>
            <a:r>
              <a:t>→ 补充混淆矩阵、Precision、Recall、F1-score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09320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5. PyTorch 工程化不足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509320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7AE60"/>
                </a:solidFill>
                <a:latin typeface="Microsoft YaHei"/>
              </a:defRPr>
            </a:pPr>
            <a:r>
              <a:t>→ 练习自定义 Dataset、迁移学习、训练日志记录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8064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6. Git 仅会基本 add/commit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58064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7AE60"/>
                </a:solidFill>
                <a:latin typeface="Microsoft YaHei"/>
              </a:defRPr>
            </a:pPr>
            <a:r>
              <a:t>→ 学习分支、标签、规范的提交信息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95C"/>
                </a:solidFill>
                <a:latin typeface="Microsoft YaHei"/>
              </a:defRPr>
            </a:pPr>
            <a:r>
              <a:t>下一步学习计划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82296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近期（1-2周）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34747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• 使用 ResNet 迁移学习重跑 CIFAR-10，突破 85% 准确率</a:t>
            </a:r>
            <a:br/>
            <a:r>
              <a:t>• 补充混淆矩阵与 F1-score 评估</a:t>
            </a:r>
            <a:br/>
            <a:r>
              <a:t>• 完成 PPT 终稿与答辩演练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463040"/>
            <a:ext cx="3474720" cy="8229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中期（3-4周）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377440"/>
            <a:ext cx="34747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256032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• 医学影像分类项目：使用 MedMNIST 或 CT 肺部数据集</a:t>
            </a:r>
            <a:br/>
            <a:r>
              <a:t>• 学习数据增强进阶：Mixup / Cutout</a:t>
            </a:r>
            <a:br/>
            <a:r>
              <a:t>• 掌握 TensorBoard / Wandb 训练可视化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63040"/>
            <a:ext cx="3474720" cy="82296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长期（后续课程）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377440"/>
            <a:ext cx="34747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56032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• 目标检测（YOLO）与图像分割（UNet）</a:t>
            </a:r>
            <a:br/>
            <a:r>
              <a:t>• 大模型微调与多模态学习</a:t>
            </a:r>
            <a:br/>
            <a:r>
              <a:t>• 参与一个完整的医学 AI 项目实战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65A82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ADCFC"/>
                </a:solidFill>
                <a:latin typeface="Microsoft YaHei"/>
              </a:defRPr>
            </a:pPr>
            <a:r>
              <a:t>欢迎老师同学批评指正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汇报人：汪超 | 2026年8月23日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